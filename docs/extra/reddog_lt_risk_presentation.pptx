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ck.com/operations/red-dog-mine/" TargetMode="External"/><Relationship Id="rId2" Type="http://schemas.openxmlformats.org/officeDocument/2006/relationships/hyperlink" Target="https://www.teck.com/investors/financial-report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467-022-32983-w" TargetMode="External"/><Relationship Id="rId2" Type="http://schemas.openxmlformats.org/officeDocument/2006/relationships/hyperlink" Target="https://www.ipcc.ch/report/ar6/wg2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laskabeacon.com/2024/08/26/red-dog-mine-faces-permafrost-challenges/" TargetMode="External"/><Relationship Id="rId2" Type="http://schemas.openxmlformats.org/officeDocument/2006/relationships/hyperlink" Target="https://doi.org/10.1038/s41561-023-01199-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ck.com/sustainability/climate-action/" TargetMode="External"/><Relationship Id="rId2" Type="http://schemas.openxmlformats.org/officeDocument/2006/relationships/hyperlink" Target="https://www.teck.com/sustainability/approach-to-esg/esg-governance/tcfd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Climate Risk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Dog Mine — Teck Resources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7863840" cy="27432"/>
          </a:xfrm>
          <a:prstGeom prst="rect">
            <a:avLst/>
          </a:prstGeom>
          <a:solidFill>
            <a:srgbClr val="1E3A5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 Arctic, Alaska</a:t>
            </a:r>
            <a:pPr indent="0" marL="0">
              <a:buNone/>
            </a:pPr>
            <a:r>
              <a:rPr lang="en-US" sz="1200" dirty="0">
                <a:solidFill>
                  <a:srgbClr val="1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2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Zinc/Lead Mining</a:t>
            </a:r>
            <a:pPr indent="0" marL="0">
              <a:buNone/>
            </a:pPr>
            <a:r>
              <a:rPr lang="en-US" sz="1200" dirty="0">
                <a:solidFill>
                  <a:srgbClr val="1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Exposure: $2.0B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307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Dog Mine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81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profile, financials, and current risk landscape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411480" cy="41148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39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020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Climate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2951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Permafrost thaw, precipitation surge, and observed impacts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52344"/>
            <a:ext cx="411480" cy="41148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523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340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LT-Risk Framework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0083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SCVR methodology adapted for Arctic mining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411480" cy="41148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65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4472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Climate to Financial Impact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721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framework translates climate data into dollar-denominated risk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411480" cy="411480"/>
          </a:xfrm>
          <a:prstGeom prst="ellipse">
            <a:avLst/>
          </a:prstGeom>
          <a:solidFill>
            <a:srgbClr val="0E1A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78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4348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InfraSure delivers for Teck's climate risk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Dog Mine — Asset 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zinc mine, operated by Teck Resources in partnership with NANA Regional Corporation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7739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68.07°N, 162.88°W — 170km north of Arctic Circle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258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Open-pit zinc/lead mine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5694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 Resources Ltd (TSX: TECK)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0540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2278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 Regional Corporation (Iñupiat)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538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Life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deposits through 2031; extension exploration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0233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1970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$2.0B (prospective)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Financial Snapshot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$2,182M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83480" y="2194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$588M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2194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Operations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8348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Zinc Concentrate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3794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Mine Life Investment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700" u="sng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Teck Resources</a:t>
            </a:r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700" u="sng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Teck 2024 Annual Report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ARCTIC CLIMATE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Dog Mine sits on continuous permafrost — 170km north of the Arctic Circle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560320" cy="1463040"/>
          </a:xfrm>
          <a:prstGeom prst="rect">
            <a:avLst/>
          </a:prstGeom>
          <a:solidFill>
            <a:srgbClr val="162D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331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warming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global average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560320" cy="1463040"/>
          </a:xfrm>
          <a:prstGeom prst="rect">
            <a:avLst/>
          </a:prstGeom>
          <a:solidFill>
            <a:srgbClr val="162D44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331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2044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infrastructure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by 2050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2560320" cy="1463040"/>
          </a:xfrm>
          <a:prstGeom prst="rect">
            <a:avLst/>
          </a:prstGeom>
          <a:solidFill>
            <a:srgbClr val="162D44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331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5508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Permafrost area loss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2.7°C warming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Arctic is warming nearly four times as fast as the rest of the planet — infrastructure designed for stable permafrost is increasingly at risk of failure."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700" u="sng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 Communications (2022)</a:t>
            </a:r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700" u="sng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IPCC AR6 WG2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Permafrost Thaw — Already Happening at Red Dog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Impacts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$19M spent in 2020 alone on thaw-related wastewater management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Tailings wastewater up 60% (reaching 2B gallons) from 2017-2021 due to increased precipitation and thaw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$279M pipeline solution under evaluation (50-mile pipe to Chukchi Sea port)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discharge permit (2021) expires in 2026 — compliance risk escalating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"River rusting" — thawing permafrost releasing iron and minerals into surrounding creeks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Projections (CMIP6)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Layer Depth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~0.93m</a:t>
            </a:r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~4.09m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2040-2060, SSP3-7.0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83480" y="2350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Annual Temp.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532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-6°C</a:t>
            </a:r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to +6°C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7614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by 2050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83480" y="30083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31912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+30-40%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4198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mid-century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3480" y="36667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Permafrost Extent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849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Discontinuous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40782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2050-2060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700" u="sng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Alaska Beacon</a:t>
            </a:r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700" u="sng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 Geoscience (2023)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Hazard Landscape — Red Dog Mine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256032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399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Permafrost Degradation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instability, road subsidence, structural damage to processing facilities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051560"/>
            <a:ext cx="256032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51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399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Precipitation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17647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Tailings pond overflow, wastewater management failure, flooding of mine pit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2560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51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1399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Extremes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7647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Freeze-thaw cycling damage to equipment, altered processing conditions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74320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743200"/>
            <a:ext cx="2560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Erosion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4564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facility at risk — sole transportation corridor (DeLong Mountains Terminal)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274320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2743200"/>
            <a:ext cx="2560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6616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(Tundra)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6160" y="34564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Arctic wildfire activity threatening supply routes and operations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74320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743200"/>
            <a:ext cx="2560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4564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discharge compliance, carbon pricing, mine closure liability escalation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LT-Risk Evolution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pipeline that translates climate model data into dollar-denominated asset impairment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463040" cy="2194560"/>
          </a:xfrm>
          <a:prstGeom prst="rect">
            <a:avLst/>
          </a:prstGeom>
          <a:solidFill>
            <a:srgbClr val="162D4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11680"/>
            <a:ext cx="146304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SCVR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has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shifted?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2148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48840" y="2011680"/>
            <a:ext cx="1463040" cy="2194560"/>
          </a:xfrm>
          <a:prstGeom prst="rect">
            <a:avLst/>
          </a:prstGeom>
          <a:solidFill>
            <a:srgbClr val="162D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148840" y="2011680"/>
            <a:ext cx="1463040" cy="54864"/>
          </a:xfrm>
          <a:prstGeom prst="rect">
            <a:avLst/>
          </a:prstGeom>
          <a:solidFill>
            <a:srgbClr val="5BA3B5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200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that shift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hazard frequency?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2148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840480" y="2011680"/>
            <a:ext cx="1463040" cy="2194560"/>
          </a:xfrm>
          <a:prstGeom prst="rect">
            <a:avLst/>
          </a:prstGeom>
          <a:solidFill>
            <a:srgbClr val="162D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2011680"/>
            <a:ext cx="14630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3192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3200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hazards affect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condition?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2148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32120" y="2011680"/>
            <a:ext cx="1463040" cy="2194560"/>
          </a:xfrm>
          <a:prstGeom prst="rect">
            <a:avLst/>
          </a:prstGeom>
          <a:solidFill>
            <a:srgbClr val="162D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2011680"/>
            <a:ext cx="146304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2356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Life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3200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asset reach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sooner?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2148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23760" y="2011680"/>
            <a:ext cx="1463040" cy="2194560"/>
          </a:xfrm>
          <a:prstGeom prst="rect">
            <a:avLst/>
          </a:prstGeom>
          <a:solidFill>
            <a:srgbClr val="162D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223760" y="2011680"/>
            <a:ext cx="146304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1520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3200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financial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in dollars?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Climate Signal to Financial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framework translates climate model outputs into asset-level financial impairment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1280160" cy="10058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Measurement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463040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 ensemble data (6+ global climate models) is downscaled to the asset's exact coordinates. SCVR captures how the full climate distribution shifts over time — not just averages, but the entire shape including extremes and tails.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084832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SCVR across climate variables and scenarios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42032"/>
            <a:ext cx="1280160" cy="1005840"/>
          </a:xfrm>
          <a:prstGeom prst="rect">
            <a:avLst/>
          </a:prstGeom>
          <a:solidFill>
            <a:srgbClr val="5BA3B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4203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Risk Translation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633472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shifts are translated into hazard frequencies (HCR) and equipment degradation rates (EFR) using engineering models — Peck's acceleration, Coffin-Manson fatigue, and Palmgren-Miner cumulative damage.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255264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5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 (hazard events) and EFR (failure rates)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5478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12464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12464"/>
            <a:ext cx="128016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12464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Quantification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803904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cash flows (CFADS) are computed by applying hazard and degradation impacts to the asset's financial model. The difference in Net Asset Value between base case and climate-adjusted case gives the impairment.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4425696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impairment in dollar terms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This Approach Different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3749040" cy="411480"/>
          </a:xfrm>
          <a:prstGeom prst="rect">
            <a:avLst/>
          </a:prstGeom>
          <a:solidFill>
            <a:srgbClr val="6B7C8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Climate Risk Assessment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risk ratings (Low / Medium / High)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aggregate score over project life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climate data and dollar impact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expert judgment, not climate model outputs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differentiate near-term vs. long-term risk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749040" cy="41148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InfraSure LT-Risk Framework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Quantitative: grounded in CMIP6 climate model ensembles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Distribution-based: captures full shape of climate shifts, not just averages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Forward-looking: tracks how risk evolves across the asset's life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chain: translates climate shifts to dollar-denominated NAV impairment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comparison: SSP2-4.5 vs SSP5-8.5 bounding the 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Adapting the Framework for Arctic Mining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LT-Risk framework addresses mining-specific and Arctic-specific challenges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Permafrost-Specific EFR Curves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degradation functions for foundation stability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Tailings dam integrity modeling under thaw conditions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and transport infrastructure failure rates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2801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Precipitation Modeling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Rain-on-snow events → rapid melt and flooding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winter precipitation compounding spring thaw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volume projections tied to SCVR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(SSP2-4.5 vs SSP5-8.5)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CMIP6 scenarios bounding the uncertainty range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across pathways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Decision-relevant: shows when action becomes necessary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5661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CFADS-overlay for mine cash flow projections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covenant compliance testing by year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impairment linked to Teck's balance sheet exposure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with Teck's Climate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 already uses CMIP6 models and TCFD-aligned reporting — our framework builds directly on this foundation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011680" cy="9601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 Uses CMIP6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444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Teck: </a:t>
            </a:r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resilience assessments using CMIP6 GCMs for scenario planning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8470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InfraSure: </a:t>
            </a:r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same CMIP6 models — our SCVR provides quantitative scoring on top of their qualitative assessments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4600"/>
            <a:ext cx="2011680" cy="9601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 Reporting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587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Teck: </a:t>
            </a:r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 publishes TCFD-aligned climate risk disclosures with physical risk assessments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9900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InfraSure: </a:t>
            </a:r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NAV impairment chain produces exactly the financial metrics TCFD requires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57600"/>
            <a:ext cx="2011680" cy="96012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Anglo American Merger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730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Teck: </a:t>
            </a:r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 merging with Anglo American (Dec 2025) — combined entity needs unified risk framework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41330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InfraSure: </a:t>
            </a:r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InfraSure framework can scale across the merged portfolio of global mining assets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700" u="sng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Teck Climate Action</a:t>
            </a:r>
            <a:pPr indent="0" marL="0">
              <a:buNone/>
            </a:pPr>
            <a:r>
              <a:rPr lang="en-US" sz="7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700" u="sng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Teck TCFD Report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InfraSure Delivers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365760" cy="36576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Variability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SCVR-based climate variability scores for key variables (temperature, precipitation, wind, humidity) under SSP2-4.5 and SSP5-8.5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280160"/>
            <a:ext cx="365760" cy="36576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Event Projections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Permafrost thaw timeline, extreme precipitation return periods, and coastal erosion risk curves across the asset's life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108960"/>
            <a:ext cx="365760" cy="36576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Impact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Equipment-level failure rate projections (EFR) for foundations, tailings dams, roads, processing facilities, and port infrastructure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3108960"/>
            <a:ext cx="365760" cy="36576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Impairment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566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impairment schedule mapped to Teck's CFADS projections, DSCR covenant testing, and mine life extension scenarios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from Assessment to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site-specific operational data, infrastructure inventory, and financial projections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2585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downscaled climate analysis at 68.07°N, 162.88°W for key variables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22585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254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SCVR &amp; Risk Computation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072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SCVR values and risk metrics through the mine life horizon (2026-2040+)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82549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4-6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39242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639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LT-Risk assessment with financial recommendations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39242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6-8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7863840" cy="18288"/>
          </a:xfrm>
          <a:prstGeom prst="rect">
            <a:avLst/>
          </a:prstGeom>
          <a:solidFill>
            <a:srgbClr val="1E3A5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InfraSure  |  Long-Term Climate Risk Analytics  |  infrasure.com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Teck Resources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Dog Mine — Long-Term Climate Risk Assessment</dc:title>
  <dc:subject>PptxGenJS Presentation</dc:subject>
  <dc:creator>InfraSure</dc:creator>
  <cp:lastModifiedBy>InfraSure</cp:lastModifiedBy>
  <cp:revision>1</cp:revision>
  <dcterms:created xsi:type="dcterms:W3CDTF">2026-03-10T04:03:49Z</dcterms:created>
  <dcterms:modified xsi:type="dcterms:W3CDTF">2026-03-10T04:03:49Z</dcterms:modified>
</cp:coreProperties>
</file>