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88950"/>
  <p:notesSz cx="6858000" cy="121889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 amt="18000"/>
          </a:blip>
          <a:srcRect b="0" l="0" r="0" t="0"/>
          <a:stretch/>
        </p:blipFill>
        <p:spPr>
          <a:xfrm>
            <a:off x="8869680" y="1005840"/>
            <a:ext cx="292608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685800" y="1691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PROJECT INTRO  ·  FYI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205740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InfraSure Insights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85800" y="33832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300"/>
              <a:buFont typeface="Calibri"/>
              <a:buNone/>
            </a:pPr>
            <a:r>
              <a:rPr b="0" i="0" lang="en-US" sz="2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Teaching the data platform to reason like an analyst.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85800" y="416052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The same InfraSure data you know — now it produces grounded, caveated insight, with its sources shown.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85800" y="6172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3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E93B5"/>
                </a:solidFill>
                <a:latin typeface="Calibri"/>
                <a:ea typeface="Calibri"/>
                <a:cs typeface="Calibri"/>
                <a:sym typeface="Calibri"/>
              </a:rPr>
              <a:t>InfraSure Insights  ·  June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 have the data. We don't yet have the analyst.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48640" y="1600200"/>
            <a:ext cx="5074920" cy="2971800"/>
          </a:xfrm>
          <a:prstGeom prst="roundRect">
            <a:avLst>
              <a:gd fmla="val 2769" name="adj"/>
            </a:avLst>
          </a:prstGeom>
          <a:solidFill>
            <a:srgbClr val="F4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21031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1874520" y="1938528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InfraSure today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914400" y="2880360"/>
            <a:ext cx="44348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Answers what is true — search, drill, and aggregate across ~15,000 plants: capacity, ownership, generation, offtakers.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565392" y="1600200"/>
            <a:ext cx="5074920" cy="2971800"/>
          </a:xfrm>
          <a:prstGeom prst="roundRect">
            <a:avLst>
              <a:gd fmla="val 2769" name="adj"/>
            </a:avLst>
          </a:prstGeom>
          <a:solidFill>
            <a:srgbClr val="F4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885432" y="192024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8312" y="21031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7891272" y="1938528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missing layer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931152" y="2880360"/>
            <a:ext cx="44348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Reasons like an InfraSure analyst — what's exposed, how confident, and what NOT to claim. Grounded, caveated, honest.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9008" y="2788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900"/>
              <a:buFont typeface="Calibri"/>
              <a:buNone/>
            </a:pPr>
            <a:r>
              <a:rPr b="1" i="1" lang="en-US" sz="19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moat is grounding, not fluency</a:t>
            </a:r>
            <a:r>
              <a:rPr b="0" i="1" lang="en-US" sz="19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 —  any model can write; only this one </a:t>
            </a:r>
            <a:r>
              <a:rPr i="1" lang="en-US" sz="19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can do both scale and accuracy.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we're building: three pillars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48640" y="1554480"/>
            <a:ext cx="3566160" cy="3429000"/>
          </a:xfrm>
          <a:prstGeom prst="roundRect">
            <a:avLst>
              <a:gd fmla="val 2400" name="adj"/>
            </a:avLst>
          </a:prstGeom>
          <a:solidFill>
            <a:srgbClr val="F4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68680" y="1874520"/>
            <a:ext cx="658368" cy="65836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868680" y="187452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40" y="19933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/>
          <p:nvPr/>
        </p:nvSpPr>
        <p:spPr>
          <a:xfrm>
            <a:off x="868680" y="26974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— data tools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868680" y="309067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“what is true”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868680" y="3456432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search_plants, get_plant, aggregate. The connector that pulls and aggregates 15k plants.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68680" y="4498848"/>
            <a:ext cx="1920240" cy="329184"/>
          </a:xfrm>
          <a:prstGeom prst="roundRect">
            <a:avLst>
              <a:gd fmla="val 13889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868680" y="4498848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306824" y="1554480"/>
            <a:ext cx="3566160" cy="3429000"/>
          </a:xfrm>
          <a:prstGeom prst="roundRect">
            <a:avLst>
              <a:gd fmla="val 2400" name="adj"/>
            </a:avLst>
          </a:prstGeom>
          <a:solidFill>
            <a:srgbClr val="F4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626864" y="1874520"/>
            <a:ext cx="658368" cy="6583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626864" y="187452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0024" y="19933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4626864" y="26974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Reference / KB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626864" y="309067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“how to reason”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626864" y="3456432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methodology + knowledge that makes the model reason like our analyst — and refuse overclaims.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626864" y="4498848"/>
            <a:ext cx="1920240" cy="329184"/>
          </a:xfrm>
          <a:prstGeom prst="roundRect">
            <a:avLst>
              <a:gd fmla="val 13889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626864" y="4498848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065008" y="1554480"/>
            <a:ext cx="3566160" cy="3429000"/>
          </a:xfrm>
          <a:prstGeom prst="roundRect">
            <a:avLst>
              <a:gd fmla="val 2400" name="adj"/>
            </a:avLst>
          </a:prstGeom>
          <a:solidFill>
            <a:srgbClr val="F4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8385048" y="1874520"/>
            <a:ext cx="658368" cy="658368"/>
          </a:xfrm>
          <a:prstGeom prst="ellipse">
            <a:avLst/>
          </a:prstGeom>
          <a:solidFill>
            <a:srgbClr val="3A6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8385048" y="187452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08208" y="19933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/>
          <p:nvPr/>
        </p:nvSpPr>
        <p:spPr>
          <a:xfrm>
            <a:off x="8385048" y="26974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Combined agent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385048" y="309067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6EA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3A6EA5"/>
                </a:solidFill>
                <a:latin typeface="Calibri"/>
                <a:ea typeface="Calibri"/>
                <a:cs typeface="Calibri"/>
                <a:sym typeface="Calibri"/>
              </a:rPr>
              <a:t>1 + 2 + agentic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8385048" y="3456432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tool we put in front of the team and clients. This is the open work.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385048" y="4498848"/>
            <a:ext cx="1920240" cy="329184"/>
          </a:xfrm>
          <a:prstGeom prst="roundRect">
            <a:avLst>
              <a:gd fmla="val 13889" name="adj"/>
            </a:avLst>
          </a:prstGeom>
          <a:solidFill>
            <a:srgbClr val="E08A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385048" y="4498848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◀  THE OPEN 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Pillars 1 &amp; 2</a:t>
            </a: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→ refine + validate (does it beat a plain query?).     </a:t>
            </a:r>
            <a:r>
              <a:rPr b="1" i="0" lang="en-US" sz="1800" u="none" cap="none" strike="noStrike">
                <a:solidFill>
                  <a:srgbClr val="E08A1E"/>
                </a:solidFill>
                <a:latin typeface="Calibri"/>
                <a:ea typeface="Calibri"/>
                <a:cs typeface="Calibri"/>
                <a:sym typeface="Calibri"/>
              </a:rPr>
              <a:t>Pillar 3</a:t>
            </a: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→ define the use case.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48640" y="1965960"/>
            <a:ext cx="1993392" cy="1143000"/>
          </a:xfrm>
          <a:prstGeom prst="roundRect">
            <a:avLst>
              <a:gd fmla="val 6400" name="adj"/>
            </a:avLst>
          </a:prstGeom>
          <a:solidFill>
            <a:srgbClr val="F4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713232" y="2130552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713232" y="21305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261872" y="2167128"/>
            <a:ext cx="12161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731520" y="2624328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scoped ask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6896" y="24094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/>
          <p:nvPr/>
        </p:nvSpPr>
        <p:spPr>
          <a:xfrm>
            <a:off x="2926080" y="1965960"/>
            <a:ext cx="1993392" cy="1143000"/>
          </a:xfrm>
          <a:prstGeom prst="roundRect">
            <a:avLst>
              <a:gd fmla="val 6400" name="adj"/>
            </a:avLst>
          </a:prstGeom>
          <a:solidFill>
            <a:srgbClr val="F4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3090672" y="2130552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3090672" y="21305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639312" y="2167128"/>
            <a:ext cx="12161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Ground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108960" y="2624328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 assets + external state (NOAA)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4336" y="24094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5303520" y="1965960"/>
            <a:ext cx="1993392" cy="1143000"/>
          </a:xfrm>
          <a:prstGeom prst="roundRect">
            <a:avLst>
              <a:gd fmla="val 6400" name="adj"/>
            </a:avLst>
          </a:prstGeom>
          <a:solidFill>
            <a:srgbClr val="F4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5468112" y="2130552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468112" y="21305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016752" y="2167128"/>
            <a:ext cx="12161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Assemble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486400" y="2624328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claim · scope · confidence · caveats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4094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7680960" y="1965960"/>
            <a:ext cx="1993392" cy="1143000"/>
          </a:xfrm>
          <a:prstGeom prst="roundRect">
            <a:avLst>
              <a:gd fmla="val 6400" name="adj"/>
            </a:avLst>
          </a:prstGeom>
          <a:solidFill>
            <a:srgbClr val="F4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7845552" y="2130552"/>
            <a:ext cx="457200" cy="457200"/>
          </a:xfrm>
          <a:prstGeom prst="ellipse">
            <a:avLst/>
          </a:prstGeom>
          <a:solidFill>
            <a:srgbClr val="3A6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7845552" y="21305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394192" y="2167128"/>
            <a:ext cx="12161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863840" y="2624328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refuse overclaims — no made-up $/MWh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9216" y="24094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/>
          <p:nvPr/>
        </p:nvSpPr>
        <p:spPr>
          <a:xfrm>
            <a:off x="10058400" y="1965960"/>
            <a:ext cx="1993392" cy="1143000"/>
          </a:xfrm>
          <a:prstGeom prst="roundRect">
            <a:avLst>
              <a:gd fmla="val 6400" name="adj"/>
            </a:avLst>
          </a:prstGeom>
          <a:solidFill>
            <a:srgbClr val="F4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10222992" y="2130552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10222992" y="21305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0771632" y="2167128"/>
            <a:ext cx="12161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0241280" y="2624328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brief · card · post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48640" y="3520440"/>
            <a:ext cx="11091672" cy="594360"/>
          </a:xfrm>
          <a:prstGeom prst="roundRect">
            <a:avLst>
              <a:gd fmla="val 9231" name="adj"/>
            </a:avLst>
          </a:prstGeom>
          <a:solidFill>
            <a:srgbClr val="EA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822960" y="352044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It's a loop, not a one-shot</a:t>
            </a: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—  a human reviews at every pass; iteration is what makes the insight useful.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80059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1005840" y="457200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1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Example.  </a:t>
            </a:r>
            <a:r>
              <a:rPr b="0" i="1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 Niño this winter → which CA solar ≥50 MW is exposed → a grounded, caveated brief — and no invented numbers.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Where we are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2821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1188720" y="1691640"/>
            <a:ext cx="6126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 </a:t>
            </a: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 tools — built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5054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1188720" y="2468880"/>
            <a:ext cx="6126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Reference / KB  </a:t>
            </a: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methodology — built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28269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1188720" y="3246120"/>
            <a:ext cx="6126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First method (ENSO)  </a:t>
            </a: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validated end-to-end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48645" y="4160520"/>
            <a:ext cx="612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Now:  refine the foundations  ·  prove the value vs. a plain query  ·  define the use cases.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836415" y="1371000"/>
            <a:ext cx="3776400" cy="3383400"/>
          </a:xfrm>
          <a:prstGeom prst="roundRect">
            <a:avLst>
              <a:gd fmla="val 2703" name="adj"/>
            </a:avLst>
          </a:prstGeom>
          <a:solidFill>
            <a:srgbClr val="1B2A4A"/>
          </a:solidFill>
          <a:ln>
            <a:noFill/>
          </a:ln>
          <a:effectLst>
            <a:outerShdw blurRad="114300" rotWithShape="0" algn="bl" dir="81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8156455" y="1599600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V0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8156455" y="201108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8156455" y="310836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First ENSO insight: grounded, LOW-confidence, sources shown — and it refused every overclaim.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this is headed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Two ways in — and the outputs BizDev puts to work.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40080" y="1737360"/>
            <a:ext cx="5074920" cy="3017520"/>
          </a:xfrm>
          <a:prstGeom prst="roundRect">
            <a:avLst>
              <a:gd fmla="val 3030" name="adj"/>
            </a:avLst>
          </a:prstGeom>
          <a:solidFill>
            <a:srgbClr val="26395F"/>
          </a:solidFill>
          <a:ln>
            <a:noFill/>
          </a:ln>
          <a:effectLst>
            <a:outerShdw blurRad="114300" rotWithShape="0" algn="bl" dir="81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0299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/>
          <p:nvPr/>
        </p:nvSpPr>
        <p:spPr>
          <a:xfrm>
            <a:off x="1645920" y="20116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Bottom-up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1005840" y="265176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Start from a site or portfolio → its exposure. Targeted, account-facing.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1005840" y="33649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USED FOR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097280" y="3657600"/>
            <a:ext cx="4206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Account briefs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Customer-facing tool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Outbound email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473952" y="1737360"/>
            <a:ext cx="5074920" cy="3017520"/>
          </a:xfrm>
          <a:prstGeom prst="roundRect">
            <a:avLst>
              <a:gd fmla="val 3030" name="adj"/>
            </a:avLst>
          </a:prstGeom>
          <a:solidFill>
            <a:srgbClr val="26395F"/>
          </a:solidFill>
          <a:ln>
            <a:noFill/>
          </a:ln>
          <a:effectLst>
            <a:outerShdw blurRad="114300" rotWithShape="0" algn="bl" dir="81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712" y="20299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7479792" y="20116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Top-down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6839712" y="265176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Start from a phenomenon or the news → which assets it hits. Broad, outward.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839712" y="33649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USED FOR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931152" y="3657600"/>
            <a:ext cx="42062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Blogs &amp; posts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LinkedIn content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Market-insight pieces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40080" y="502920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900"/>
              <a:buFont typeface="Calibri"/>
              <a:buNone/>
            </a:pPr>
            <a:r>
              <a:rPr b="1" i="1" lang="en-US" sz="1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Two directions, one engine</a:t>
            </a:r>
            <a:r>
              <a:rPr b="0" i="1" lang="en-US" sz="1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  —  these are the outputs BizDev puts to work.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3B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E93B5"/>
                </a:solidFill>
                <a:latin typeface="Calibri"/>
                <a:ea typeface="Calibri"/>
                <a:cs typeface="Calibri"/>
                <a:sym typeface="Calibri"/>
              </a:rPr>
              <a:t>Sharing so the team knows what's coming.  Questions welcome.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